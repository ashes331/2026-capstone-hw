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2563EB">
              <a:alpha val="25000"/>
            </a:srgbClr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474720"/>
            <a:ext cx="2743200" cy="2743200"/>
          </a:xfrm>
          <a:prstGeom prst="ellipse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1371600"/>
            <a:ext cx="4572000" cy="4572000"/>
          </a:xfrm>
          <a:prstGeom prst="ellipse">
            <a:avLst/>
          </a:prstGeom>
          <a:solidFill>
            <a:srgbClr val="2563EB">
              <a:alpha val="10000"/>
            </a:srgbClr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0" y="1828800"/>
            <a:ext cx="3657600" cy="3657600"/>
          </a:xfrm>
          <a:prstGeom prst="ellipse">
            <a:avLst/>
          </a:prstGeom>
          <a:solidFill>
            <a:srgbClr val="10B981">
              <a:alpha val="8000"/>
            </a:srgbClr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572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10B981"/>
                </a:solidFill>
              </a:rPr>
              <a:t>F5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365760" y="12801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팀 프로젝트 제안서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783080"/>
            <a:ext cx="5943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디지털 약자를 위한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음성 및 제스처 중심의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배리어프리 키오스크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365760" y="3749040"/>
            <a:ext cx="1188720" cy="256032"/>
          </a:xfrm>
          <a:prstGeom prst="rect">
            <a:avLst/>
          </a:prstGeom>
          <a:solidFill>
            <a:srgbClr val="2563EB">
              <a:alpha val="7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37490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딥러닝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737360" y="3749040"/>
            <a:ext cx="1188720" cy="256032"/>
          </a:xfrm>
          <a:prstGeom prst="rect">
            <a:avLst/>
          </a:prstGeom>
          <a:solidFill>
            <a:srgbClr val="10B981">
              <a:alpha val="7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37360" y="37490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컴퓨터비전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108960" y="3749040"/>
            <a:ext cx="1188720" cy="256032"/>
          </a:xfrm>
          <a:prstGeom prst="rect">
            <a:avLst/>
          </a:prstGeom>
          <a:solidFill>
            <a:srgbClr val="2563EB">
              <a:alpha val="7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08960" y="37490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NLP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480560" y="3749040"/>
            <a:ext cx="1188720" cy="256032"/>
          </a:xfrm>
          <a:prstGeom prst="rect">
            <a:avLst/>
          </a:prstGeom>
          <a:solidFill>
            <a:srgbClr val="10B981">
              <a:alpha val="7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0560" y="37490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멀티모달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852160" y="3749040"/>
            <a:ext cx="1188720" cy="256032"/>
          </a:xfrm>
          <a:prstGeom prst="rect">
            <a:avLst/>
          </a:prstGeom>
          <a:solidFill>
            <a:srgbClr val="2563EB">
              <a:alpha val="7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52160" y="37490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생성형AI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65760" y="4480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2026 AI캡스톤디자인  |  인공지능소프트웨어학과</a:t>
            </a:r>
            <a:endParaRPr lang="en-US" sz="10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3716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3200400"/>
            <a:ext cx="2286000" cy="2286000"/>
          </a:xfrm>
          <a:prstGeom prst="ellipse">
            <a:avLst/>
          </a:prstGeom>
          <a:solidFill>
            <a:srgbClr val="2563EB">
              <a:alpha val="8000"/>
            </a:srgbClr>
          </a:solidFill>
          <a:ln w="12700">
            <a:solidFill>
              <a:srgbClr val="2563EB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목  차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931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25880"/>
            <a:ext cx="64008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399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1.1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6459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팀명 &amp; GitHub 저장소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3931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423160"/>
            <a:ext cx="64008" cy="868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4963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1.2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27432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팀 역할 분담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520440"/>
            <a:ext cx="3931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520440"/>
            <a:ext cx="64008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593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1.3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38404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프로젝트 제목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46320" y="1325880"/>
            <a:ext cx="3931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1325880"/>
            <a:ext cx="64008" cy="868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1399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1.4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83480" y="16459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프로젝트 배경 및 필요성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46320" y="2423160"/>
            <a:ext cx="3931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46320" y="2423160"/>
            <a:ext cx="64008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83480" y="24963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1.5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83480" y="27432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주요 기능 및 시스템 구조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846320" y="3520440"/>
            <a:ext cx="3931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46320" y="3520440"/>
            <a:ext cx="64008" cy="868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83480" y="3593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1.6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83480" y="38404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목표 및 기대효과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2563EB">
              <a:alpha val="25000"/>
            </a:srgbClr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474720"/>
            <a:ext cx="2743200" cy="2743200"/>
          </a:xfrm>
          <a:prstGeom prst="ellipse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56032"/>
            <a:ext cx="1645920" cy="256032"/>
          </a:xfrm>
          <a:prstGeom prst="rect">
            <a:avLst>
              <a:gd name="adj" fmla="val 1785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1.1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팀명 &amp; GitHub 저장소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2926080" cy="2286000"/>
          </a:xfrm>
          <a:prstGeom prst="rect">
            <a:avLst/>
          </a:prstGeom>
          <a:solidFill>
            <a:srgbClr val="2563EB">
              <a:alpha val="85000"/>
            </a:srgbClr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8016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10B981"/>
                </a:solidFill>
              </a:rPr>
              <a:t>F5</a:t>
            </a:r>
            <a:endParaRPr lang="en-US" sz="90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</a:rPr>
              <a:t>새로고침 · 재설계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Refresh &amp; Redesign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749040" y="1280160"/>
            <a:ext cx="493776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86200" y="1371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팀명 의미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886200" y="169164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1F5F9"/>
                </a:solidFill>
              </a:rPr>
              <a:t>웹 브라우저의 강제 새로고침 단축키 'F5'에서 착안.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1F5F9"/>
                </a:solidFill>
              </a:rPr>
              <a:t>기존 키오스크의 불편함을 완전히 재설계(Reset)하여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1F5F9"/>
                </a:solidFill>
              </a:rPr>
              <a:t>디지털 소외계층 친화적 인터페이스로 전환한다는 의미.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749040" y="2743200"/>
            <a:ext cx="493776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2834640"/>
            <a:ext cx="320040" cy="32004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4251960" y="28346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GitHub 저장소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886200" y="320040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9E0B"/>
                </a:solidFill>
              </a:rPr>
              <a:t>https://github.com/Capstone-F5/CapstoneProject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886200" y="349300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📁 /src  코드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217920" y="349300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📁 /data  데이터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3886200" y="371246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📁 /docs  문서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217920" y="371246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📁 /models  모델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3200400"/>
            <a:ext cx="2286000" cy="2286000"/>
          </a:xfrm>
          <a:prstGeom prst="ellipse">
            <a:avLst/>
          </a:prstGeom>
          <a:solidFill>
            <a:srgbClr val="2563EB">
              <a:alpha val="8000"/>
            </a:srgbClr>
          </a:solidFill>
          <a:ln w="12700">
            <a:solidFill>
              <a:srgbClr val="2563EB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56032"/>
            <a:ext cx="1645920" cy="256032"/>
          </a:xfrm>
          <a:prstGeom prst="rect">
            <a:avLst>
              <a:gd name="adj" fmla="val 1785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1.2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</a:rPr>
              <a:t>팀 역할 분담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65760" y="1280160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280160"/>
            <a:ext cx="260604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417320"/>
            <a:ext cx="411480" cy="4114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924" y="1449324"/>
            <a:ext cx="347472" cy="34747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05840" y="14081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조예성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005840" y="16642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20241519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502920" y="1938528"/>
            <a:ext cx="2331720" cy="201168"/>
          </a:xfrm>
          <a:prstGeom prst="rect">
            <a:avLst/>
          </a:prstGeom>
          <a:solidFill>
            <a:srgbClr val="2563EB">
              <a:alpha val="12000"/>
            </a:srgbClr>
          </a:solidFill>
          <a:ln w="12700">
            <a:solidFill>
              <a:srgbClr val="2563EB">
                <a:alpha val="2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2920" y="193852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63EB"/>
                </a:solidFill>
              </a:rPr>
              <a:t>팀장 · 웹 개발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02920" y="21945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전체 일정 관리, WBS, FastAPI 서버 구축 및 통합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3200400" y="1280160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200400" y="1280160"/>
            <a:ext cx="26060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337560" y="1417320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9564" y="1449324"/>
            <a:ext cx="347472" cy="34747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840480" y="14081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진수민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3840480" y="16642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20241479</a:t>
            </a:r>
            <a:endParaRPr lang="en-US" sz="850" dirty="0"/>
          </a:p>
        </p:txBody>
      </p:sp>
      <p:sp>
        <p:nvSpPr>
          <p:cNvPr id="23" name="Shape 19"/>
          <p:cNvSpPr/>
          <p:nvPr/>
        </p:nvSpPr>
        <p:spPr>
          <a:xfrm>
            <a:off x="3337560" y="1938528"/>
            <a:ext cx="2331720" cy="201168"/>
          </a:xfrm>
          <a:prstGeom prst="rect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>
                <a:alpha val="20000"/>
              </a:srgbClr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337560" y="193852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</a:rPr>
              <a:t>UI/UX 디자인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3337560" y="21945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키오스크 화면 설계, 배리어프리 UX 프로토타입 제작</a:t>
            </a:r>
            <a:endParaRPr lang="en-US" sz="850" dirty="0"/>
          </a:p>
        </p:txBody>
      </p:sp>
      <p:sp>
        <p:nvSpPr>
          <p:cNvPr id="26" name="Shape 22"/>
          <p:cNvSpPr/>
          <p:nvPr/>
        </p:nvSpPr>
        <p:spPr>
          <a:xfrm>
            <a:off x="6035040" y="1280160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6035040" y="1280160"/>
            <a:ext cx="260604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6172200" y="1417320"/>
            <a:ext cx="411480" cy="4114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4204" y="1449324"/>
            <a:ext cx="347472" cy="347472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6675120" y="14081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김성원</a:t>
            </a:r>
            <a:endParaRPr lang="en-US" sz="1300" dirty="0"/>
          </a:p>
        </p:txBody>
      </p:sp>
      <p:sp>
        <p:nvSpPr>
          <p:cNvPr id="31" name="Text 26"/>
          <p:cNvSpPr/>
          <p:nvPr/>
        </p:nvSpPr>
        <p:spPr>
          <a:xfrm>
            <a:off x="6675120" y="16642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20241491</a:t>
            </a:r>
            <a:endParaRPr lang="en-US" sz="850" dirty="0"/>
          </a:p>
        </p:txBody>
      </p:sp>
      <p:sp>
        <p:nvSpPr>
          <p:cNvPr id="32" name="Shape 27"/>
          <p:cNvSpPr/>
          <p:nvPr/>
        </p:nvSpPr>
        <p:spPr>
          <a:xfrm>
            <a:off x="6172200" y="1938528"/>
            <a:ext cx="2331720" cy="201168"/>
          </a:xfrm>
          <a:prstGeom prst="rect">
            <a:avLst/>
          </a:prstGeom>
          <a:solidFill>
            <a:srgbClr val="10B981">
              <a:alpha val="12000"/>
            </a:srgbClr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6172200" y="193852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B981"/>
                </a:solidFill>
              </a:rPr>
              <a:t>백엔드 개발</a:t>
            </a:r>
            <a:endParaRPr lang="en-US" sz="950" dirty="0"/>
          </a:p>
        </p:txBody>
      </p:sp>
      <p:sp>
        <p:nvSpPr>
          <p:cNvPr id="34" name="Text 29"/>
          <p:cNvSpPr/>
          <p:nvPr/>
        </p:nvSpPr>
        <p:spPr>
          <a:xfrm>
            <a:off x="6172200" y="21945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STT-LLM-TTS 파이프라인, LangChain 에이전트, RAG 설계</a:t>
            </a:r>
            <a:endParaRPr lang="en-US" sz="850" dirty="0"/>
          </a:p>
        </p:txBody>
      </p:sp>
      <p:sp>
        <p:nvSpPr>
          <p:cNvPr id="35" name="Shape 30"/>
          <p:cNvSpPr/>
          <p:nvPr/>
        </p:nvSpPr>
        <p:spPr>
          <a:xfrm>
            <a:off x="365760" y="3108960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1"/>
          <p:cNvSpPr/>
          <p:nvPr/>
        </p:nvSpPr>
        <p:spPr>
          <a:xfrm>
            <a:off x="365760" y="3108960"/>
            <a:ext cx="26060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502920" y="3246120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924" y="3278124"/>
            <a:ext cx="347472" cy="347472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1005840" y="32369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김명서</a:t>
            </a:r>
            <a:endParaRPr lang="en-US" sz="1300" dirty="0"/>
          </a:p>
        </p:txBody>
      </p:sp>
      <p:sp>
        <p:nvSpPr>
          <p:cNvPr id="40" name="Text 34"/>
          <p:cNvSpPr/>
          <p:nvPr/>
        </p:nvSpPr>
        <p:spPr>
          <a:xfrm>
            <a:off x="1005840" y="34930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20242513</a:t>
            </a:r>
            <a:endParaRPr lang="en-US" sz="850" dirty="0"/>
          </a:p>
        </p:txBody>
      </p:sp>
      <p:sp>
        <p:nvSpPr>
          <p:cNvPr id="41" name="Shape 35"/>
          <p:cNvSpPr/>
          <p:nvPr/>
        </p:nvSpPr>
        <p:spPr>
          <a:xfrm>
            <a:off x="502920" y="3767328"/>
            <a:ext cx="2331720" cy="201168"/>
          </a:xfrm>
          <a:prstGeom prst="rect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>
                <a:alpha val="20000"/>
              </a:srgbClr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502920" y="376732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</a:rPr>
              <a:t>UI/UX 디자인</a:t>
            </a:r>
            <a:endParaRPr lang="en-US" sz="950" dirty="0"/>
          </a:p>
        </p:txBody>
      </p:sp>
      <p:sp>
        <p:nvSpPr>
          <p:cNvPr id="43" name="Text 37"/>
          <p:cNvSpPr/>
          <p:nvPr/>
        </p:nvSpPr>
        <p:spPr>
          <a:xfrm>
            <a:off x="502920" y="40233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오픈 부스 하드웨어 디자인, 고령자 UX 가이드라인 수립</a:t>
            </a:r>
            <a:endParaRPr lang="en-US" sz="850" dirty="0"/>
          </a:p>
        </p:txBody>
      </p:sp>
      <p:sp>
        <p:nvSpPr>
          <p:cNvPr id="44" name="Shape 38"/>
          <p:cNvSpPr/>
          <p:nvPr/>
        </p:nvSpPr>
        <p:spPr>
          <a:xfrm>
            <a:off x="3200400" y="3108960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5" name="Shape 39"/>
          <p:cNvSpPr/>
          <p:nvPr/>
        </p:nvSpPr>
        <p:spPr>
          <a:xfrm>
            <a:off x="3200400" y="3108960"/>
            <a:ext cx="260604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6" name="Shape 40"/>
          <p:cNvSpPr/>
          <p:nvPr/>
        </p:nvSpPr>
        <p:spPr>
          <a:xfrm>
            <a:off x="3337560" y="3246120"/>
            <a:ext cx="411480" cy="4114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4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9564" y="3278124"/>
            <a:ext cx="347472" cy="347472"/>
          </a:xfrm>
          <a:prstGeom prst="rect">
            <a:avLst/>
          </a:prstGeom>
        </p:spPr>
      </p:pic>
      <p:sp>
        <p:nvSpPr>
          <p:cNvPr id="48" name="Text 41"/>
          <p:cNvSpPr/>
          <p:nvPr/>
        </p:nvSpPr>
        <p:spPr>
          <a:xfrm>
            <a:off x="3840480" y="32369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임지연</a:t>
            </a:r>
            <a:endParaRPr lang="en-US" sz="1300" dirty="0"/>
          </a:p>
        </p:txBody>
      </p:sp>
      <p:sp>
        <p:nvSpPr>
          <p:cNvPr id="49" name="Text 42"/>
          <p:cNvSpPr/>
          <p:nvPr/>
        </p:nvSpPr>
        <p:spPr>
          <a:xfrm>
            <a:off x="3840480" y="34930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20242514</a:t>
            </a:r>
            <a:endParaRPr lang="en-US" sz="850" dirty="0"/>
          </a:p>
        </p:txBody>
      </p:sp>
      <p:sp>
        <p:nvSpPr>
          <p:cNvPr id="50" name="Shape 43"/>
          <p:cNvSpPr/>
          <p:nvPr/>
        </p:nvSpPr>
        <p:spPr>
          <a:xfrm>
            <a:off x="3337560" y="3767328"/>
            <a:ext cx="2331720" cy="201168"/>
          </a:xfrm>
          <a:prstGeom prst="rect">
            <a:avLst/>
          </a:prstGeom>
          <a:solidFill>
            <a:srgbClr val="10B981">
              <a:alpha val="12000"/>
            </a:srgbClr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3337560" y="376732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B981"/>
                </a:solidFill>
              </a:rPr>
              <a:t>백엔드 개발</a:t>
            </a:r>
            <a:endParaRPr lang="en-US" sz="950" dirty="0"/>
          </a:p>
        </p:txBody>
      </p:sp>
      <p:sp>
        <p:nvSpPr>
          <p:cNvPr id="52" name="Text 45"/>
          <p:cNvSpPr/>
          <p:nvPr/>
        </p:nvSpPr>
        <p:spPr>
          <a:xfrm>
            <a:off x="3337560" y="40233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MediaPipe/YOLO 제스처 인식 모듈, 이벤트 트리거 로직</a:t>
            </a:r>
            <a:endParaRPr lang="en-US" sz="850" dirty="0"/>
          </a:p>
        </p:txBody>
      </p:sp>
      <p:sp>
        <p:nvSpPr>
          <p:cNvPr id="53" name="Shape 46"/>
          <p:cNvSpPr/>
          <p:nvPr/>
        </p:nvSpPr>
        <p:spPr>
          <a:xfrm>
            <a:off x="6035040" y="3108960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4" name="Shape 47"/>
          <p:cNvSpPr/>
          <p:nvPr/>
        </p:nvSpPr>
        <p:spPr>
          <a:xfrm>
            <a:off x="6035040" y="3108960"/>
            <a:ext cx="260604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5" name="Shape 48"/>
          <p:cNvSpPr/>
          <p:nvPr/>
        </p:nvSpPr>
        <p:spPr>
          <a:xfrm>
            <a:off x="6172200" y="3246120"/>
            <a:ext cx="411480" cy="4114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5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4204" y="3278124"/>
            <a:ext cx="347472" cy="347472"/>
          </a:xfrm>
          <a:prstGeom prst="rect">
            <a:avLst/>
          </a:prstGeom>
        </p:spPr>
      </p:pic>
      <p:sp>
        <p:nvSpPr>
          <p:cNvPr id="57" name="Text 49"/>
          <p:cNvSpPr/>
          <p:nvPr/>
        </p:nvSpPr>
        <p:spPr>
          <a:xfrm>
            <a:off x="6675120" y="32369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서유민</a:t>
            </a:r>
            <a:endParaRPr lang="en-US" sz="1300" dirty="0"/>
          </a:p>
        </p:txBody>
      </p:sp>
      <p:sp>
        <p:nvSpPr>
          <p:cNvPr id="58" name="Text 50"/>
          <p:cNvSpPr/>
          <p:nvPr/>
        </p:nvSpPr>
        <p:spPr>
          <a:xfrm>
            <a:off x="6675120" y="34930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20242517</a:t>
            </a:r>
            <a:endParaRPr lang="en-US" sz="850" dirty="0"/>
          </a:p>
        </p:txBody>
      </p:sp>
      <p:sp>
        <p:nvSpPr>
          <p:cNvPr id="59" name="Shape 51"/>
          <p:cNvSpPr/>
          <p:nvPr/>
        </p:nvSpPr>
        <p:spPr>
          <a:xfrm>
            <a:off x="6172200" y="3767328"/>
            <a:ext cx="2331720" cy="201168"/>
          </a:xfrm>
          <a:prstGeom prst="rect">
            <a:avLst/>
          </a:prstGeom>
          <a:solidFill>
            <a:srgbClr val="2563EB">
              <a:alpha val="12000"/>
            </a:srgbClr>
          </a:solidFill>
          <a:ln w="12700">
            <a:solidFill>
              <a:srgbClr val="2563EB">
                <a:alpha val="20000"/>
              </a:srgbClr>
            </a:solidFill>
            <a:prstDash val="solid"/>
          </a:ln>
        </p:spPr>
      </p:sp>
      <p:sp>
        <p:nvSpPr>
          <p:cNvPr id="60" name="Text 52"/>
          <p:cNvSpPr/>
          <p:nvPr/>
        </p:nvSpPr>
        <p:spPr>
          <a:xfrm>
            <a:off x="6172200" y="376732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63EB"/>
                </a:solidFill>
              </a:rPr>
              <a:t>데이터베이스</a:t>
            </a:r>
            <a:endParaRPr lang="en-US" sz="950" dirty="0"/>
          </a:p>
        </p:txBody>
      </p:sp>
      <p:sp>
        <p:nvSpPr>
          <p:cNvPr id="61" name="Text 53"/>
          <p:cNvSpPr/>
          <p:nvPr/>
        </p:nvSpPr>
        <p:spPr>
          <a:xfrm>
            <a:off x="6172200" y="40233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메뉴 DB 설계(JSON/SQL), 벡터 DB 구성, 데이터 전처리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2563EB">
              <a:alpha val="25000"/>
            </a:srgbClr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474720"/>
            <a:ext cx="2743200" cy="2743200"/>
          </a:xfrm>
          <a:prstGeom prst="ellipse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56032"/>
            <a:ext cx="1645920" cy="256032"/>
          </a:xfrm>
          <a:prstGeom prst="rect">
            <a:avLst>
              <a:gd name="adj" fmla="val 1785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1.3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프로젝트 제목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8229600" cy="1371600"/>
          </a:xfrm>
          <a:prstGeom prst="rect">
            <a:avLst/>
          </a:prstGeom>
          <a:solidFill>
            <a:srgbClr val="2563EB">
              <a:alpha val="80000"/>
            </a:srgbClr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34440"/>
            <a:ext cx="73152" cy="1371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32588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2200" b="1" dirty="0">
                <a:solidFill>
                  <a:srgbClr val="FFFFFF"/>
                </a:solidFill>
              </a:rPr>
              <a:t>디지털 약자를 위한</a:t>
            </a:r>
            <a:endParaRPr lang="en-US" sz="2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200" b="1" dirty="0">
                <a:solidFill>
                  <a:srgbClr val="FFFFFF"/>
                </a:solidFill>
              </a:rPr>
              <a:t>음성 및 제스처 중심의 배리어프리 키오스크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28346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AI 기술 분야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154680"/>
            <a:ext cx="914400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1546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딥러닝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463040" y="3154680"/>
            <a:ext cx="914400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63040" y="31546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컴퓨터 비전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468880" y="3154680"/>
            <a:ext cx="914400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0" y="31546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자연어 처리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474720" y="3154680"/>
            <a:ext cx="914400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31546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멀티모달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754880" y="28346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AI 응용 분야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3154680"/>
            <a:ext cx="1737360" cy="292608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31546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추천 시스템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675120" y="3154680"/>
            <a:ext cx="1737360" cy="292608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0" y="31546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생성형 AI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7200" y="3639312"/>
            <a:ext cx="8229600" cy="1143000"/>
          </a:xfrm>
          <a:prstGeom prst="rect">
            <a:avLst/>
          </a:prstGeom>
          <a:solidFill>
            <a:srgbClr val="1E293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73075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입력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0080" y="3959352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음성 발화 (STT)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카메라 영상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148840" y="39776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0B981"/>
                </a:solidFill>
              </a:rPr>
              <a:t>→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2651760" y="373075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AI 처리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651760" y="3959352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LLM(Gemini) + Whisper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MediaPipe/YOLO + LangChain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623560" y="39776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0B981"/>
                </a:solidFill>
              </a:rPr>
              <a:t>→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126480" y="373075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출력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126480" y="395935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비접촉 자율 주문 완결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다국어 TTS 응답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3200400"/>
            <a:ext cx="2286000" cy="2286000"/>
          </a:xfrm>
          <a:prstGeom prst="ellipse">
            <a:avLst/>
          </a:prstGeom>
          <a:solidFill>
            <a:srgbClr val="2563EB">
              <a:alpha val="8000"/>
            </a:srgbClr>
          </a:solidFill>
          <a:ln w="12700">
            <a:solidFill>
              <a:srgbClr val="2563EB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56032"/>
            <a:ext cx="1645920" cy="256032"/>
          </a:xfrm>
          <a:prstGeom prst="rect">
            <a:avLst>
              <a:gd name="adj" fmla="val 1785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1.4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</a:rPr>
              <a:t>프로젝트 배경 — 사회적 문제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8229600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34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⚖️  2026년 1월 28일 — 배리어프리 키오스크 설치 의무화 법령 시행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057400"/>
            <a:ext cx="19202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057400"/>
            <a:ext cx="192024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43000" y="2240280"/>
            <a:ext cx="548640" cy="548640"/>
          </a:xfrm>
          <a:prstGeom prst="ellipse">
            <a:avLst/>
          </a:prstGeom>
          <a:solidFill>
            <a:srgbClr val="EF4444">
              <a:alpha val="85000"/>
            </a:srgbClr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576" y="2276856"/>
            <a:ext cx="475488" cy="47548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48640" y="28803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물리적 접근성 문제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48640" y="338328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휠체어 탑승 시 화면 상단 버튼에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손이 닿지 않는 구조적 한계.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설치는 됐으나 실질적 이용 불가.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560320" y="2057400"/>
            <a:ext cx="19202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560320" y="2057400"/>
            <a:ext cx="19202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246120" y="2240280"/>
            <a:ext cx="548640" cy="548640"/>
          </a:xfrm>
          <a:prstGeom prst="ellipse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2696" y="2276856"/>
            <a:ext cx="475488" cy="47548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2651760" y="28803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높은 지연 시간 문제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2651760" y="338328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안내 속도가 지나치게 느려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사용자가 직원 직접 응대를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선호하게 되는 역효과 발생.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4663440" y="2057400"/>
            <a:ext cx="19202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4663440" y="2057400"/>
            <a:ext cx="192024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5349240" y="2240280"/>
            <a:ext cx="548640" cy="548640"/>
          </a:xfrm>
          <a:prstGeom prst="ellipse">
            <a:avLst/>
          </a:prstGeom>
          <a:solidFill>
            <a:srgbClr val="2563EB">
              <a:alpha val="85000"/>
            </a:srgbClr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5816" y="2276856"/>
            <a:ext cx="475488" cy="47548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4754880" y="28803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단방향 UI 한계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4754880" y="338328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기존 터치 기반 시각 UI로 설계되어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시각장애인의 독립적 이용이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불가능한 구조.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6766560" y="2057400"/>
            <a:ext cx="19202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6766560" y="2057400"/>
            <a:ext cx="192024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7452360" y="2240280"/>
            <a:ext cx="548640" cy="548640"/>
          </a:xfrm>
          <a:prstGeom prst="ellipse">
            <a:avLst/>
          </a:prstGeom>
          <a:solidFill>
            <a:srgbClr val="10B981">
              <a:alpha val="85000"/>
            </a:srgbClr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8936" y="2276856"/>
            <a:ext cx="475488" cy="475488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6858000" y="28803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언어 장벽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6858000" y="338328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외국인 사용자는 언어 선택을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별도 조작해야 하는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추가 진입 장벽 존재.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2563EB">
              <a:alpha val="25000"/>
            </a:srgbClr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474720"/>
            <a:ext cx="2743200" cy="2743200"/>
          </a:xfrm>
          <a:prstGeom prst="ellipse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56032"/>
            <a:ext cx="1645920" cy="256032"/>
          </a:xfrm>
          <a:prstGeom prst="rect">
            <a:avLst>
              <a:gd name="adj" fmla="val 1785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1.4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프로젝트 배경 — 기술적 필요성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164592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8872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구분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08960" y="1188720"/>
            <a:ext cx="2834640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08960" y="118872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기존 키오스크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852160" y="1188720"/>
            <a:ext cx="283464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0" y="118872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F5 배리어프리 키오스크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1600200"/>
            <a:ext cx="841248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60020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4A3B8"/>
                </a:solidFill>
              </a:rPr>
              <a:t>인터페이스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011680" y="160020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8181"/>
                </a:solidFill>
              </a:rPr>
              <a:t>✗  터치 기반 시각 UI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46320" y="160020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✓  음성 + 제스처 멀티모달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286000"/>
            <a:ext cx="8412480" cy="658368"/>
          </a:xfrm>
          <a:prstGeom prst="rect">
            <a:avLst/>
          </a:prstGeom>
          <a:solidFill>
            <a:srgbClr val="162032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28600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4A3B8"/>
                </a:solidFill>
              </a:rPr>
              <a:t>대화 방식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011680" y="228600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8181"/>
                </a:solidFill>
              </a:rPr>
              <a:t>✗  단방향 TTS 안내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228600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✓  LLM 양방향 자유 발화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971800"/>
            <a:ext cx="841248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97180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4A3B8"/>
                </a:solidFill>
              </a:rPr>
              <a:t>장애인 지원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011680" y="297180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8181"/>
                </a:solidFill>
              </a:rPr>
              <a:t>✗  형식적 준수 수준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46320" y="297180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✓  완전 자율 주문 완결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657600"/>
            <a:ext cx="8412480" cy="658368"/>
          </a:xfrm>
          <a:prstGeom prst="rect">
            <a:avLst/>
          </a:prstGeom>
          <a:solidFill>
            <a:srgbClr val="162032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65760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4A3B8"/>
                </a:solidFill>
              </a:rPr>
              <a:t>다국어 지원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011680" y="365760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8181"/>
                </a:solidFill>
              </a:rPr>
              <a:t>✗  수동 언어 선택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46320" y="365760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✓  Zero-shot 자동 감지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59E0B"/>
                </a:solidFill>
              </a:rPr>
              <a:t>"왜 지금인가? — LLM · 컴퓨터비전 · 음성AI 기술의 성숙으로 실현 가능한 시점"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3200400"/>
            <a:ext cx="2286000" cy="2286000"/>
          </a:xfrm>
          <a:prstGeom prst="ellipse">
            <a:avLst/>
          </a:prstGeom>
          <a:solidFill>
            <a:srgbClr val="2563EB">
              <a:alpha val="8000"/>
            </a:srgbClr>
          </a:solidFill>
          <a:ln w="12700">
            <a:solidFill>
              <a:srgbClr val="2563EB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56032"/>
            <a:ext cx="1645920" cy="256032"/>
          </a:xfrm>
          <a:prstGeom prst="rect">
            <a:avLst>
              <a:gd name="adj" fmla="val 1785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1.5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</a:rPr>
              <a:t>주요 기능 — 5대 핵심 기능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65760" y="1298448"/>
            <a:ext cx="3931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1389888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389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15568" y="138988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멀티모달 상황 인지 &amp; 인터페이스 자동 최적화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115568" y="175564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Gemini Vision / YOLO로 휠체어·흰 지팡이 감지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→ 음성 우선 모드 자동 활성화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2505456"/>
            <a:ext cx="3931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2596896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5968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15568" y="2596896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비접촉 제스처 메뉴 탐색 · 선택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115568" y="2962656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MediaPipe/YOLO 손가락 랜드마크 추출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→ 좌우 스와이프로 터치 없이 메뉴 제어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3712464"/>
            <a:ext cx="3931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2920" y="3803904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8039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15568" y="3803904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LLM 기반 양방향 자유 발화 대화형 주문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115568" y="4169664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Whisper STT + LangChain + Gemini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→ 복잡·불완전 발화에서 의도 정확 파악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54880" y="1298448"/>
            <a:ext cx="3931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92040" y="1389888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1389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504688" y="138988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Zero-shot 다국어 자동 감지 및 전환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504688" y="175564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별도 언어 선택 없이 첫 발화로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한국어·외국어 자동 전환 응대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54880" y="2505456"/>
            <a:ext cx="3931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92040" y="2596896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25968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504688" y="2596896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RAG 메뉴 DB 연동 &amp; 지능형 큐레이션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504688" y="2962656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실시간 메뉴 DB 선참조(할루시네이션 방지)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+ 날씨·시간·대화 맥락 기반 메뉴 추천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2563EB">
              <a:alpha val="25000"/>
            </a:srgbClr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474720"/>
            <a:ext cx="2743200" cy="2743200"/>
          </a:xfrm>
          <a:prstGeom prst="ellipse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56032"/>
            <a:ext cx="1645920" cy="256032"/>
          </a:xfrm>
          <a:prstGeom prst="rect">
            <a:avLst>
              <a:gd name="adj" fmla="val 1785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1.5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시스템 아키텍처 다이어그램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274320" y="1280160"/>
            <a:ext cx="1645920" cy="3200400"/>
          </a:xfrm>
          <a:prstGeom prst="rect">
            <a:avLst/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801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INPUT</a:t>
            </a:r>
            <a:endParaRPr lang="en-US" sz="9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664208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20040" y="21031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F1F5F9"/>
                </a:solidFill>
              </a:rPr>
              <a:t>음성 입력</a:t>
            </a:r>
            <a:endParaRPr lang="en-US" sz="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F1F5F9"/>
                </a:solidFill>
              </a:rPr>
              <a:t>(Microphone)</a:t>
            </a:r>
            <a:endParaRPr lang="en-US" sz="8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69748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0040" y="313639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F1F5F9"/>
                </a:solidFill>
              </a:rPr>
              <a:t>제스처</a:t>
            </a:r>
            <a:endParaRPr lang="en-US" sz="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F1F5F9"/>
                </a:solidFill>
              </a:rPr>
              <a:t>(Camera)</a:t>
            </a:r>
            <a:endParaRPr lang="en-US" sz="8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65760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20040" y="409651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F1F5F9"/>
                </a:solidFill>
              </a:rPr>
              <a:t>사용자 감지</a:t>
            </a:r>
            <a:endParaRPr lang="en-US" sz="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F1F5F9"/>
                </a:solidFill>
              </a:rPr>
              <a:t>(Vision)</a:t>
            </a:r>
            <a:endParaRPr lang="en-US" sz="800" dirty="0"/>
          </a:p>
        </p:txBody>
      </p:sp>
      <p:sp>
        <p:nvSpPr>
          <p:cNvPr id="15" name="Shape 10"/>
          <p:cNvSpPr/>
          <p:nvPr/>
        </p:nvSpPr>
        <p:spPr>
          <a:xfrm>
            <a:off x="1965960" y="2834640"/>
            <a:ext cx="45720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1874520" y="26974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0B981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2423160" y="1280160"/>
            <a:ext cx="2286000" cy="3200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2423160" y="12801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AI PIPELINE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2560320" y="1691640"/>
            <a:ext cx="2011680" cy="475488"/>
          </a:xfrm>
          <a:prstGeom prst="rect">
            <a:avLst/>
          </a:prstGeom>
          <a:solidFill>
            <a:srgbClr val="2563EB">
              <a:alpha val="75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2560320" y="169164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Whisper STT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2560320" y="2368296"/>
            <a:ext cx="2011680" cy="475488"/>
          </a:xfrm>
          <a:prstGeom prst="rect">
            <a:avLst/>
          </a:prstGeom>
          <a:solidFill>
            <a:srgbClr val="F59E0B">
              <a:alpha val="7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2560320" y="2368296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YOLO / MediaPipe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2560320" y="3044952"/>
            <a:ext cx="2011680" cy="475488"/>
          </a:xfrm>
          <a:prstGeom prst="rect">
            <a:avLst/>
          </a:prstGeom>
          <a:solidFill>
            <a:srgbClr val="10B981">
              <a:alpha val="7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2560320" y="304495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Gemini + LangChain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2560320" y="3721608"/>
            <a:ext cx="2011680" cy="475488"/>
          </a:xfrm>
          <a:prstGeom prst="rect">
            <a:avLst/>
          </a:prstGeom>
          <a:solidFill>
            <a:srgbClr val="2563EB">
              <a:alpha val="75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2560320" y="372160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RAG + Memory</a:t>
            </a:r>
            <a:endParaRPr lang="en-US" sz="950" dirty="0"/>
          </a:p>
        </p:txBody>
      </p:sp>
      <p:sp>
        <p:nvSpPr>
          <p:cNvPr id="27" name="Text 22"/>
          <p:cNvSpPr/>
          <p:nvPr/>
        </p:nvSpPr>
        <p:spPr>
          <a:xfrm>
            <a:off x="4754880" y="26974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0B981"/>
                </a:solidFill>
              </a:rPr>
              <a:t>→</a:t>
            </a:r>
            <a:endParaRPr lang="en-US" sz="1600" dirty="0"/>
          </a:p>
        </p:txBody>
      </p:sp>
      <p:sp>
        <p:nvSpPr>
          <p:cNvPr id="28" name="Shape 23"/>
          <p:cNvSpPr/>
          <p:nvPr/>
        </p:nvSpPr>
        <p:spPr>
          <a:xfrm>
            <a:off x="5257800" y="1280160"/>
            <a:ext cx="1828800" cy="320040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5257800" y="12801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SERVER</a:t>
            </a:r>
            <a:endParaRPr lang="en-US" sz="900" dirty="0"/>
          </a:p>
        </p:txBody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1691640"/>
            <a:ext cx="411480" cy="41148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5303520" y="21488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F1F5F9"/>
                </a:solidFill>
              </a:rPr>
              <a:t>FastAPI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F1F5F9"/>
                </a:solidFill>
              </a:rPr>
              <a:t>비동기 처리</a:t>
            </a:r>
            <a:endParaRPr lang="en-US" sz="850" dirty="0"/>
          </a:p>
        </p:txBody>
      </p:sp>
      <p:sp>
        <p:nvSpPr>
          <p:cNvPr id="32" name="Text 26"/>
          <p:cNvSpPr/>
          <p:nvPr/>
        </p:nvSpPr>
        <p:spPr>
          <a:xfrm>
            <a:off x="5303520" y="272491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F1F5F9"/>
                </a:solidFill>
              </a:rPr>
              <a:t>토큰 스트리밍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F1F5F9"/>
                </a:solidFill>
              </a:rPr>
              <a:t>(&lt; 2초 응답)</a:t>
            </a:r>
            <a:endParaRPr lang="en-US" sz="850" dirty="0"/>
          </a:p>
        </p:txBody>
      </p:sp>
      <p:sp>
        <p:nvSpPr>
          <p:cNvPr id="33" name="Text 27"/>
          <p:cNvSpPr/>
          <p:nvPr/>
        </p:nvSpPr>
        <p:spPr>
          <a:xfrm>
            <a:off x="5303520" y="32918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F1F5F9"/>
                </a:solidFill>
              </a:rPr>
              <a:t>메뉴 DB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F1F5F9"/>
                </a:solidFill>
              </a:rPr>
              <a:t>(RAG 연동)</a:t>
            </a:r>
            <a:endParaRPr lang="en-US" sz="850" dirty="0"/>
          </a:p>
        </p:txBody>
      </p:sp>
      <p:sp>
        <p:nvSpPr>
          <p:cNvPr id="34" name="Text 28"/>
          <p:cNvSpPr/>
          <p:nvPr/>
        </p:nvSpPr>
        <p:spPr>
          <a:xfrm>
            <a:off x="5303520" y="38404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F1F5F9"/>
                </a:solidFill>
              </a:rPr>
              <a:t>Open Booth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F1F5F9"/>
                </a:solidFill>
              </a:rPr>
              <a:t>소음 차단</a:t>
            </a:r>
            <a:endParaRPr lang="en-US" sz="850" dirty="0"/>
          </a:p>
        </p:txBody>
      </p:sp>
      <p:sp>
        <p:nvSpPr>
          <p:cNvPr id="35" name="Text 29"/>
          <p:cNvSpPr/>
          <p:nvPr/>
        </p:nvSpPr>
        <p:spPr>
          <a:xfrm>
            <a:off x="7132320" y="26974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0B981"/>
                </a:solidFill>
              </a:rPr>
              <a:t>→</a:t>
            </a:r>
            <a:endParaRPr lang="en-US" sz="1600" dirty="0"/>
          </a:p>
        </p:txBody>
      </p:sp>
      <p:sp>
        <p:nvSpPr>
          <p:cNvPr id="36" name="Shape 30"/>
          <p:cNvSpPr/>
          <p:nvPr/>
        </p:nvSpPr>
        <p:spPr>
          <a:xfrm>
            <a:off x="7635240" y="1280160"/>
            <a:ext cx="1188720" cy="3200400"/>
          </a:xfrm>
          <a:prstGeom prst="rect">
            <a:avLst/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7635240" y="128016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OUTPUT</a:t>
            </a:r>
            <a:endParaRPr lang="en-US" sz="800" dirty="0"/>
          </a:p>
        </p:txBody>
      </p:sp>
      <p:sp>
        <p:nvSpPr>
          <p:cNvPr id="38" name="Text 32"/>
          <p:cNvSpPr/>
          <p:nvPr/>
        </p:nvSpPr>
        <p:spPr>
          <a:xfrm>
            <a:off x="7635240" y="169164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F1F5F9"/>
                </a:solidFill>
              </a:rPr>
              <a:t>🔊 TTS</a:t>
            </a:r>
            <a:endParaRPr lang="en-US" sz="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F1F5F9"/>
                </a:solidFill>
              </a:rPr>
              <a:t>음성 응답</a:t>
            </a:r>
            <a:endParaRPr lang="en-US" sz="800" dirty="0"/>
          </a:p>
        </p:txBody>
      </p:sp>
      <p:sp>
        <p:nvSpPr>
          <p:cNvPr id="39" name="Text 33"/>
          <p:cNvSpPr/>
          <p:nvPr/>
        </p:nvSpPr>
        <p:spPr>
          <a:xfrm>
            <a:off x="7635240" y="246888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F1F5F9"/>
                </a:solidFill>
              </a:rPr>
              <a:t>🖥 UI</a:t>
            </a:r>
            <a:endParaRPr lang="en-US" sz="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F1F5F9"/>
                </a:solidFill>
              </a:rPr>
              <a:t>화면 갱신</a:t>
            </a:r>
            <a:endParaRPr lang="en-US" sz="800" dirty="0"/>
          </a:p>
        </p:txBody>
      </p:sp>
      <p:sp>
        <p:nvSpPr>
          <p:cNvPr id="40" name="Text 34"/>
          <p:cNvSpPr/>
          <p:nvPr/>
        </p:nvSpPr>
        <p:spPr>
          <a:xfrm>
            <a:off x="7635240" y="320040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0B981"/>
                </a:solidFill>
              </a:rPr>
              <a:t>✅ 주문</a:t>
            </a:r>
            <a:endParaRPr lang="en-US" sz="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0B981"/>
                </a:solidFill>
              </a:rPr>
              <a:t>완결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3200400"/>
            <a:ext cx="2286000" cy="2286000"/>
          </a:xfrm>
          <a:prstGeom prst="ellipse">
            <a:avLst/>
          </a:prstGeom>
          <a:solidFill>
            <a:srgbClr val="2563EB">
              <a:alpha val="8000"/>
            </a:srgbClr>
          </a:solidFill>
          <a:ln w="12700">
            <a:solidFill>
              <a:srgbClr val="2563EB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56032"/>
            <a:ext cx="1645920" cy="256032"/>
          </a:xfrm>
          <a:prstGeom prst="rect">
            <a:avLst>
              <a:gd name="adj" fmla="val 1785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1.6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</a:rPr>
              <a:t>목표 — 4대 핵심 KPI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65760" y="1280160"/>
            <a:ext cx="19202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280160"/>
            <a:ext cx="1920240" cy="914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353312"/>
            <a:ext cx="457200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65760" y="18288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≥ 90%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365760" y="22677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F1-Score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57200" y="26060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1E293B"/>
                </a:solidFill>
              </a:rPr>
              <a:t>LLM 의도 파악 정확도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57200" y="3246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LangChain Memory +</a:t>
            </a:r>
            <a:endParaRPr lang="en-US" sz="8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Prompt Engineering 최적화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2468880" y="1280160"/>
            <a:ext cx="19202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468880" y="1280160"/>
            <a:ext cx="1920240" cy="9144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353312"/>
            <a:ext cx="457200" cy="457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468880" y="18288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≤ 2초</a:t>
            </a:r>
            <a:endParaRPr lang="en-US" sz="2200" dirty="0"/>
          </a:p>
        </p:txBody>
      </p:sp>
      <p:sp>
        <p:nvSpPr>
          <p:cNvPr id="19" name="Text 15"/>
          <p:cNvSpPr/>
          <p:nvPr/>
        </p:nvSpPr>
        <p:spPr>
          <a:xfrm>
            <a:off x="2468880" y="22677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응답 지연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2560320" y="26060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1E293B"/>
                </a:solidFill>
              </a:rPr>
              <a:t>전체 파이프라인 지연 시간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2560320" y="3246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비동기 FastAPI +</a:t>
            </a:r>
            <a:endParaRPr lang="en-US" sz="8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토큰 스트리밍 기법 적용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4572000" y="1280160"/>
            <a:ext cx="19202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4572000" y="1280160"/>
            <a:ext cx="1920240" cy="9144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1353312"/>
            <a:ext cx="457200" cy="4572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572000" y="18288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≥ 90%</a:t>
            </a:r>
            <a:endParaRPr lang="en-US" sz="2200" dirty="0"/>
          </a:p>
        </p:txBody>
      </p:sp>
      <p:sp>
        <p:nvSpPr>
          <p:cNvPr id="26" name="Text 21"/>
          <p:cNvSpPr/>
          <p:nvPr/>
        </p:nvSpPr>
        <p:spPr>
          <a:xfrm>
            <a:off x="4572000" y="22677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STT 인식률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4663440" y="26060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1E293B"/>
                </a:solidFill>
              </a:rPr>
              <a:t>고소음(80dB) 환경 음성 인식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4663440" y="3246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물리적 오픈 부스 +</a:t>
            </a:r>
            <a:endParaRPr lang="en-US" sz="8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Whisper 최적화 결합</a:t>
            </a:r>
            <a:endParaRPr lang="en-US" sz="850" dirty="0"/>
          </a:p>
        </p:txBody>
      </p:sp>
      <p:sp>
        <p:nvSpPr>
          <p:cNvPr id="29" name="Shape 24"/>
          <p:cNvSpPr/>
          <p:nvPr/>
        </p:nvSpPr>
        <p:spPr>
          <a:xfrm>
            <a:off x="6675120" y="1280160"/>
            <a:ext cx="19202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6675120" y="1280160"/>
            <a:ext cx="1920240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0" y="1353312"/>
            <a:ext cx="457200" cy="45720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6675120" y="18288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≤ 2분</a:t>
            </a:r>
            <a:endParaRPr lang="en-US" sz="2200" dirty="0"/>
          </a:p>
        </p:txBody>
      </p:sp>
      <p:sp>
        <p:nvSpPr>
          <p:cNvPr id="33" name="Text 27"/>
          <p:cNvSpPr/>
          <p:nvPr/>
        </p:nvSpPr>
        <p:spPr>
          <a:xfrm>
            <a:off x="6675120" y="22677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주문 완결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6766560" y="26060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1E293B"/>
                </a:solidFill>
              </a:rPr>
              <a:t>시각장애인·휠체어 주문 시간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6766560" y="3246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보이스-퍼스트 프로세스</a:t>
            </a:r>
            <a:endParaRPr lang="en-US" sz="8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완전 자율 주문 실현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2563EB">
              <a:alpha val="25000"/>
            </a:srgbClr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474720"/>
            <a:ext cx="2743200" cy="2743200"/>
          </a:xfrm>
          <a:prstGeom prst="ellipse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56032"/>
            <a:ext cx="1645920" cy="256032"/>
          </a:xfrm>
          <a:prstGeom prst="rect">
            <a:avLst>
              <a:gd name="adj" fmla="val 1785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1.6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기대효과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2651760" cy="356616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234440"/>
            <a:ext cx="26517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63040" y="1325880"/>
            <a:ext cx="457200" cy="457200"/>
          </a:xfrm>
          <a:prstGeom prst="ellipse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9616" y="1362456"/>
            <a:ext cx="384048" cy="38404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65760" y="18745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사용자 관점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237744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7240" y="233172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F1F5F9"/>
                </a:solidFill>
              </a:rPr>
              <a:t>시각장애인·휠체어 사용자의 독립적 자율 주문 실현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48640" y="3127248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7240" y="3081528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F1F5F9"/>
                </a:solidFill>
              </a:rPr>
              <a:t>도움 없이 결제까지 전 과정 2분 이내 완결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48640" y="3877056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77240" y="3831336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F1F5F9"/>
                </a:solidFill>
              </a:rPr>
              <a:t>음성만으로 복잡한 주문 가능 — 인지 부담 최소화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3246120" y="1234440"/>
            <a:ext cx="2651760" cy="3566160"/>
          </a:xfrm>
          <a:prstGeom prst="rect">
            <a:avLst/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246120" y="1234440"/>
            <a:ext cx="265176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343400" y="1325880"/>
            <a:ext cx="457200" cy="457200"/>
          </a:xfrm>
          <a:prstGeom prst="ellipse">
            <a:avLst/>
          </a:prstGeom>
          <a:solidFill>
            <a:srgbClr val="2563EB">
              <a:alpha val="80000"/>
            </a:srgbClr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9976" y="1362456"/>
            <a:ext cx="384048" cy="38404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3246120" y="18745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사회적 관점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3429000" y="2377440"/>
            <a:ext cx="164592" cy="1645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657600" y="233172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F1F5F9"/>
                </a:solidFill>
              </a:rPr>
              <a:t>배리어프리 법령의 실질적 이행 모델 제시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3429000" y="3127248"/>
            <a:ext cx="164592" cy="1645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657600" y="3081528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F1F5F9"/>
                </a:solidFill>
              </a:rPr>
              <a:t>외국인·다문화 가정 다국어 지원으로 글로벌 포용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3429000" y="3877056"/>
            <a:ext cx="164592" cy="1645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3657600" y="3831336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F1F5F9"/>
                </a:solidFill>
              </a:rPr>
              <a:t>디지털 소외계층의 사회 참여 기회 확대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6126480" y="1234440"/>
            <a:ext cx="2651760" cy="356616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6126480" y="1234440"/>
            <a:ext cx="26517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7223760" y="1325880"/>
            <a:ext cx="457200" cy="457200"/>
          </a:xfrm>
          <a:prstGeom prst="ellipse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0336" y="1362456"/>
            <a:ext cx="384048" cy="384048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6126480" y="18745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운영 관점</a:t>
            </a:r>
            <a:endParaRPr lang="en-US" sz="1300" dirty="0"/>
          </a:p>
        </p:txBody>
      </p:sp>
      <p:sp>
        <p:nvSpPr>
          <p:cNvPr id="34" name="Shape 29"/>
          <p:cNvSpPr/>
          <p:nvPr/>
        </p:nvSpPr>
        <p:spPr>
          <a:xfrm>
            <a:off x="6309360" y="237744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6537960" y="233172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F1F5F9"/>
                </a:solidFill>
              </a:rPr>
              <a:t>직원 응대 부담 감소 — AI 자동 주문 처리</a:t>
            </a:r>
            <a:endParaRPr lang="en-US" sz="950" dirty="0"/>
          </a:p>
        </p:txBody>
      </p:sp>
      <p:sp>
        <p:nvSpPr>
          <p:cNvPr id="36" name="Shape 31"/>
          <p:cNvSpPr/>
          <p:nvPr/>
        </p:nvSpPr>
        <p:spPr>
          <a:xfrm>
            <a:off x="6309360" y="3127248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6537960" y="3081528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F1F5F9"/>
                </a:solidFill>
              </a:rPr>
              <a:t>RAG 기반 할루시네이션 방지로 오주문 率 감소</a:t>
            </a:r>
            <a:endParaRPr lang="en-US" sz="950" dirty="0"/>
          </a:p>
        </p:txBody>
      </p:sp>
      <p:sp>
        <p:nvSpPr>
          <p:cNvPr id="38" name="Shape 33"/>
          <p:cNvSpPr/>
          <p:nvPr/>
        </p:nvSpPr>
        <p:spPr>
          <a:xfrm>
            <a:off x="6309360" y="3877056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6537960" y="3831336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F1F5F9"/>
                </a:solidFill>
              </a:rPr>
              <a:t>멀티모달 AI 시스템 통합 실전 역량 축적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2563EB">
              <a:alpha val="25000"/>
            </a:srgbClr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474720"/>
            <a:ext cx="2743200" cy="2743200"/>
          </a:xfrm>
          <a:prstGeom prst="ellipse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274320"/>
            <a:ext cx="4572000" cy="4572000"/>
          </a:xfrm>
          <a:prstGeom prst="ellipse">
            <a:avLst/>
          </a:prstGeom>
          <a:solidFill>
            <a:srgbClr val="10B981">
              <a:alpha val="7000"/>
            </a:srgbClr>
          </a:solidFill>
          <a:ln w="12700">
            <a:solidFill>
              <a:srgbClr val="10B981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4864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10B981"/>
                </a:solidFill>
              </a:rPr>
              <a:t>F5</a:t>
            </a:r>
            <a:endParaRPr lang="en-US" sz="80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54864" cy="1371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69164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2000" b="1" dirty="0">
                <a:solidFill>
                  <a:srgbClr val="FFFFFF"/>
                </a:solidFill>
              </a:rPr>
              <a:t>디지털 약자가 키오스크 앞에서</a:t>
            </a:r>
            <a:endParaRPr lang="en-US" sz="2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2000" b="1" dirty="0">
                <a:solidFill>
                  <a:srgbClr val="FFFFFF"/>
                </a:solidFill>
              </a:rPr>
              <a:t>더 이상 혼자가 아닌 세상을 만듭니다.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94A3B8"/>
                </a:solidFill>
              </a:rPr>
              <a:t>음성 + 제스처 + LLM 으로 모든 장벽을 새로고침(F5)합니다.</a:t>
            </a:r>
            <a:endParaRPr lang="en-US" sz="12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840480"/>
            <a:ext cx="292608" cy="29260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" y="38404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</a:rPr>
              <a:t>https://github.com/Capstone-F5/CapstoneProject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858000" y="36576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</a:rPr>
              <a:t>Q &amp; A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6858000" y="4251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Thank you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F5팀 배리어프리 키오스크</dc:title>
  <dc:subject>PptxGenJS Presentation</dc:subject>
  <dc:creator>PptxGenJS</dc:creator>
  <cp:lastModifiedBy>PptxGenJS</cp:lastModifiedBy>
  <cp:revision>1</cp:revision>
  <dcterms:created xsi:type="dcterms:W3CDTF">2026-04-14T05:37:34Z</dcterms:created>
  <dcterms:modified xsi:type="dcterms:W3CDTF">2026-04-14T05:37:34Z</dcterms:modified>
</cp:coreProperties>
</file>